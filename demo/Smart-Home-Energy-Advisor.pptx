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2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71" r:id="rId11"/>
    <p:sldId id="273" r:id="rId12"/>
    <p:sldId id="268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596E"/>
    <a:srgbClr val="E9EAEB"/>
    <a:srgbClr val="FF9900"/>
    <a:srgbClr val="313A44"/>
    <a:srgbClr val="444C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19" autoAdjust="0"/>
    <p:restoredTop sz="66556"/>
  </p:normalViewPr>
  <p:slideViewPr>
    <p:cSldViewPr>
      <p:cViewPr varScale="1">
        <p:scale>
          <a:sx n="104" d="100"/>
          <a:sy n="104" d="100"/>
        </p:scale>
        <p:origin x="94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81C389-B07A-5F41-B8C8-648F2C6305DA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B904E-6D73-C648-8E0D-2B4C223362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7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Slide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79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8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67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03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845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52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202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093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363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80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EF8E5-2C9E-4DC8-81F0-9B58C488D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15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9EAEB"/>
            </a:gs>
            <a:gs pos="7000">
              <a:schemeClr val="bg1">
                <a:lumMod val="0"/>
                <a:lumOff val="10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3F6EF8E5-2C9E-4DC8-81F0-9B58C488D1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0" y="6629400"/>
            <a:ext cx="12192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Amazon Confidential 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0" y="4"/>
            <a:ext cx="12192000" cy="4571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aseline="-25000" dirty="0"/>
          </a:p>
        </p:txBody>
      </p:sp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600" y="6399213"/>
            <a:ext cx="990600" cy="301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2967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>
              <a:lumMod val="85000"/>
              <a:lumOff val="15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00000"/>
            <a:ext cx="1036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B8FD4"/>
                </a:solidFill>
              </a:defRPr>
            </a:pPr>
            <a:r>
              <a:t>⚡ Smart Home Energy Advisor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0000"/>
            <a:ext cx="103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1A3044"/>
                </a:solidFill>
              </a:defRPr>
            </a:pPr>
            <a:r>
              <a:rPr dirty="0"/>
              <a:t>AI-Powered Conversational Energy Intelligence</a:t>
            </a:r>
            <a:br>
              <a:rPr dirty="0"/>
            </a:br>
            <a:r>
              <a:rPr dirty="0"/>
              <a:t>for Amazon Smart Thermostat (Snyder)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632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8A9E"/>
                </a:solidFill>
              </a:defRPr>
            </a:pPr>
            <a:r>
              <a:rPr lang="en-IN" sz="1600" b="1" dirty="0"/>
              <a:t>BLR Smart Home Hackathon 2k26 </a:t>
            </a:r>
            <a:br>
              <a:rPr lang="en-US" sz="1600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algn="ctr">
              <a:defRPr sz="1400" b="0">
                <a:solidFill>
                  <a:srgbClr val="6B8A9E"/>
                </a:solidFill>
              </a:defRPr>
            </a:pPr>
            <a:endParaRPr lang="en-IN" dirty="0"/>
          </a:p>
          <a:p>
            <a:pPr algn="ctr">
              <a:defRPr sz="1400" b="0">
                <a:solidFill>
                  <a:srgbClr val="6B8A9E"/>
                </a:solidFill>
              </a:defRPr>
            </a:pPr>
            <a:r>
              <a:rPr lang="en-IN" sz="1600" i="1" dirty="0">
                <a:latin typeface="Comic Sans MS" panose="030F0902030302020204" pitchFamily="66" charset="0"/>
              </a:rPr>
              <a:t>~ Developed by Abhishek Garg </a:t>
            </a:r>
          </a:p>
          <a:p>
            <a:pPr algn="ctr">
              <a:defRPr sz="1400" b="0">
                <a:solidFill>
                  <a:srgbClr val="6B8A9E"/>
                </a:solidFill>
              </a:defRPr>
            </a:pPr>
            <a:br>
              <a:rPr lang="en-IN" sz="1600" i="1" dirty="0">
                <a:latin typeface="Comic Sans MS" panose="030F0902030302020204" pitchFamily="66" charset="0"/>
              </a:rPr>
            </a:br>
            <a:r>
              <a:rPr lang="en-IN" sz="1600" i="1" dirty="0">
                <a:latin typeface="Comic Sans MS" panose="030F0902030302020204" pitchFamily="66" charset="0"/>
              </a:rPr>
              <a:t>° </a:t>
            </a:r>
            <a:r>
              <a:rPr lang="en-US" sz="1600" dirty="0"/>
              <a:t>Powered by Kiro-Cli &amp; Claude-Sonnet</a:t>
            </a:r>
          </a:p>
          <a:p>
            <a:pPr algn="ctr">
              <a:defRPr sz="1400" b="0">
                <a:solidFill>
                  <a:srgbClr val="6B8A9E"/>
                </a:solidFill>
              </a:defRPr>
            </a:pPr>
            <a:endParaRPr lang="en-IN" sz="1600" i="1" dirty="0">
              <a:latin typeface="Comic Sans MS" panose="030F09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1956" y="56212"/>
            <a:ext cx="11002726" cy="61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FD4"/>
                </a:solidFill>
              </a:defRPr>
            </a:pPr>
            <a:r>
              <a:rPr dirty="0"/>
              <a:t>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000" y="650000"/>
            <a:ext cx="5515000" cy="1712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0000" y="700000"/>
            <a:ext cx="5214182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FD4"/>
                </a:solidFill>
              </a:defRPr>
            </a:pPr>
            <a:r>
              <a:rPr dirty="0"/>
              <a:t>🌡️ What is Snyder?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Amazon's Smart Thermostat — a $60 device that controls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your home's heating and cooling via Alexa.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Generates 1000s of events daily: temperature readings,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HVAC component operations, mode changes, DR events.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Supports 1M+ devices across the 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0000" y="650000"/>
            <a:ext cx="5815818" cy="1712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50000" y="700000"/>
            <a:ext cx="5515000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DB8C9"/>
                </a:solidFill>
              </a:defRPr>
            </a:pPr>
            <a:r>
              <a:rPr dirty="0"/>
              <a:t>☁️ How Events Flow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Snyder → Alexa Cloud → ASE Event Processor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Events decorated with device metadata (CHRS)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and customer address (AlexaAddressService).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Routed via SNS to downstream services: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DR Processor, Energy Estimator, Time Series.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0000" y="2610105"/>
            <a:ext cx="5515000" cy="1712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000" y="2660105"/>
            <a:ext cx="5214182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DB89C"/>
                </a:solidFill>
              </a:defRPr>
            </a:pPr>
            <a:r>
              <a:rPr dirty="0"/>
              <a:t>⚡ What are Demand Response Events?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Utilities ask customers to reduce electricity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during peak grid demand (hot afternoons).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Thermostat auto-adjusts setpoint by 1-4°F.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Customers earn incentives for participating.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3-4 events/week during summer peak hours (2-6 PM).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00000" y="2610105"/>
            <a:ext cx="5815818" cy="1712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50000" y="2660105"/>
            <a:ext cx="5515000" cy="1485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A84D"/>
                </a:solidFill>
              </a:defRPr>
            </a:pPr>
            <a:r>
              <a:rPr dirty="0"/>
              <a:t>🔧 HVAC Filter &amp; Smart Reorder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Air filters clog over time → AC works harder →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backup heater kicks in (costs 2-3x more).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91% of customers find filter reminders useful.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Smart reorder via Dash: auto-order when health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detection triggers, with full context on why.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6705" y="4495800"/>
            <a:ext cx="11531364" cy="1524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727" y="4676334"/>
            <a:ext cx="1128109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07070"/>
                </a:solidFill>
              </a:defRPr>
            </a:pPr>
            <a:r>
              <a:rPr dirty="0"/>
              <a:t>🔍 The Gap: Data-Rich, Insight-Poor</a:t>
            </a:r>
          </a:p>
          <a:p>
            <a:pPr>
              <a:spcBef>
                <a:spcPts val="300"/>
              </a:spcBef>
              <a:defRPr sz="400" b="0">
                <a:solidFill>
                  <a:srgbClr val="6B8A9E"/>
                </a:solidFill>
              </a:defRPr>
            </a:pPr>
            <a:endParaRPr dirty="0"/>
          </a:p>
          <a:p>
            <a:pPr>
              <a:spcBef>
                <a:spcPts val="300"/>
              </a:spcBef>
              <a:defRPr sz="1400" b="1">
                <a:solidFill>
                  <a:srgbClr val="1A3044"/>
                </a:solidFill>
              </a:defRPr>
            </a:pPr>
            <a:r>
              <a:rPr dirty="0"/>
              <a:t>Today, all this data powers backend services. None of it reaches the customer in a way they understand.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Customers see "Cooling 74°F" on the Alexa app. They don't know why their bill spiked, whether their HVAC is healthy,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what demand response means, or when to replace their filter. The Energy Advisor bridges this gap with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00000"/>
            <a:ext cx="109728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B8FD4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0000" y="1000000"/>
            <a:ext cx="11200000" cy="115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0000" y="11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3044"/>
                </a:solidFill>
              </a:defRPr>
            </a:pPr>
            <a:r>
              <a:t>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1100000"/>
            <a:ext cx="10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FD4"/>
                </a:solidFill>
              </a:defRPr>
            </a:pPr>
            <a:r>
              <a:t>Energy Bill Confusion</a:t>
            </a:r>
          </a:p>
          <a:p>
            <a:pPr>
              <a:spcBef>
                <a:spcPts val="400"/>
              </a:spcBef>
              <a:defRPr sz="1400" b="0">
                <a:solidFill>
                  <a:srgbClr val="6B8A9E"/>
                </a:solidFill>
              </a:defRPr>
            </a:pPr>
            <a:r>
              <a:t>Customers can't understand why their bill spiked — need simple explanations with dollar estimates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2350000"/>
            <a:ext cx="11200000" cy="115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0000" y="245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3044"/>
                </a:solidFill>
              </a:defRPr>
            </a:pPr>
            <a:r>
              <a:t>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" y="2450000"/>
            <a:ext cx="10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84D"/>
                </a:solidFill>
              </a:defRPr>
            </a:pPr>
            <a:r>
              <a:t>Invisible HVAC Degradation</a:t>
            </a:r>
          </a:p>
          <a:p>
            <a:pPr>
              <a:spcBef>
                <a:spcPts val="400"/>
              </a:spcBef>
              <a:defRPr sz="1400" b="0">
                <a:solidFill>
                  <a:srgbClr val="6B8A9E"/>
                </a:solidFill>
              </a:defRPr>
            </a:pPr>
            <a:r>
              <a:t>Filter clogs and backup heater overuse go unnoticed until expensive breakdowns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000" y="3700000"/>
            <a:ext cx="11200000" cy="115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0000" y="380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3044"/>
                </a:solidFill>
              </a:defRPr>
            </a:pPr>
            <a: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000" y="3800000"/>
            <a:ext cx="10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B89C"/>
                </a:solidFill>
              </a:defRPr>
            </a:pPr>
            <a:r>
              <a:t>Demand Response Complexity</a:t>
            </a:r>
          </a:p>
          <a:p>
            <a:pPr>
              <a:spcBef>
                <a:spcPts val="400"/>
              </a:spcBef>
              <a:defRPr sz="1400" b="0">
                <a:solidFill>
                  <a:srgbClr val="6B8A9E"/>
                </a:solidFill>
              </a:defRPr>
            </a:pPr>
            <a:r>
              <a:t>Customers don't understand DR events or how to prepare for them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000" y="5050000"/>
            <a:ext cx="11200000" cy="115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000" y="5150000"/>
            <a:ext cx="5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A3044"/>
                </a:solidFill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000" y="5150000"/>
            <a:ext cx="10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B8C9"/>
                </a:solidFill>
              </a:defRPr>
            </a:pPr>
            <a:r>
              <a:t>No Smart Automation</a:t>
            </a:r>
          </a:p>
          <a:p>
            <a:pPr>
              <a:spcBef>
                <a:spcPts val="400"/>
              </a:spcBef>
              <a:defRPr sz="1400" b="0">
                <a:solidFill>
                  <a:srgbClr val="6B8A9E"/>
                </a:solidFill>
              </a:defRPr>
            </a:pPr>
            <a:r>
              <a:t>Thermostats don't auto-adjust based on weather, patterns, and energy prices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20000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B8FD4"/>
                </a:solidFill>
              </a:defRPr>
            </a:pPr>
            <a:r>
              <a:rPr dirty="0"/>
              <a:t>Solution:  Core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000" y="1000000"/>
            <a:ext cx="2750000" cy="2124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300"/>
              </a:spcBef>
              <a:defRPr sz="400" b="0">
                <a:solidFill>
                  <a:srgbClr val="6B8A9E"/>
                </a:solidFill>
              </a:defRPr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• Correlates runtime + weather + components</a:t>
            </a: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• Real-time &amp; Root cause analysis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1300" b="0">
                <a:solidFill>
                  <a:srgbClr val="1A3044"/>
                </a:solidFill>
              </a:defRPr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0000" y="1100000"/>
            <a:ext cx="245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FD4"/>
                </a:solidFill>
              </a:defRPr>
            </a:pPr>
            <a:r>
              <a:rPr dirty="0"/>
              <a:t>💰 Energy Bill</a:t>
            </a:r>
            <a:br>
              <a:rPr dirty="0"/>
            </a:br>
            <a:r>
              <a:rPr dirty="0"/>
              <a:t>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" y="3341282"/>
            <a:ext cx="245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FD4"/>
                </a:solidFill>
              </a:defRPr>
            </a:pPr>
            <a:r>
              <a:rPr lang="en-IN" dirty="0"/>
              <a:t>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50000" y="1000000"/>
            <a:ext cx="2750000" cy="2124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00000" y="1100000"/>
            <a:ext cx="245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6A84D"/>
                </a:solidFill>
              </a:defRPr>
            </a:pPr>
            <a:r>
              <a:t>🔧 HVAC Health</a:t>
            </a:r>
            <a:br/>
            <a:r>
              <a:t>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0000" y="2100000"/>
            <a:ext cx="24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</a:defRPr>
            </a:pPr>
            <a:r>
              <a:rPr dirty="0"/>
              <a:t>• "Your filter needs changing —</a:t>
            </a:r>
            <a:br>
              <a:rPr dirty="0"/>
            </a:br>
            <a:r>
              <a:rPr dirty="0"/>
              <a:t>  costing you $10-15 extra"</a:t>
            </a:r>
            <a:br>
              <a:rPr dirty="0"/>
            </a:br>
            <a:r>
              <a:rPr dirty="0"/>
              <a:t>• Detects problems early</a:t>
            </a:r>
            <a:br>
              <a:rPr dirty="0"/>
            </a:br>
            <a:r>
              <a:rPr dirty="0"/>
              <a:t>• Prevents $200-2000 repairs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1000000"/>
            <a:ext cx="2750000" cy="2124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0000" y="1100000"/>
            <a:ext cx="245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DB89C"/>
                </a:solidFill>
              </a:defRPr>
            </a:pPr>
            <a:r>
              <a:t>⚡ DR &amp; Clean</a:t>
            </a:r>
            <a:br/>
            <a:r>
              <a:t>Energy Advisor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2100000"/>
            <a:ext cx="24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</a:defRPr>
            </a:pPr>
            <a:r>
              <a:rPr dirty="0"/>
              <a:t>• "I'm pre-cooling your home</a:t>
            </a:r>
            <a:br>
              <a:rPr dirty="0"/>
            </a:br>
            <a:r>
              <a:rPr dirty="0"/>
              <a:t>  before the peak event"</a:t>
            </a:r>
            <a:br>
              <a:rPr dirty="0"/>
            </a:br>
            <a:r>
              <a:rPr dirty="0"/>
              <a:t>• 3-4 events/week automated</a:t>
            </a:r>
            <a:br>
              <a:rPr dirty="0"/>
            </a:br>
            <a:r>
              <a:rPr dirty="0"/>
              <a:t>• Explains impact simply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50000" y="1000000"/>
            <a:ext cx="2750000" cy="21242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00000" y="1100000"/>
            <a:ext cx="245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DB8C9"/>
                </a:solidFill>
              </a:defRPr>
            </a:pPr>
            <a:r>
              <a:t>🤖 AI Auto-</a:t>
            </a:r>
            <a:br/>
            <a:r>
              <a:t>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0000" y="2100000"/>
            <a:ext cx="245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8A9E"/>
                </a:solidFill>
              </a:defRPr>
            </a:pPr>
            <a:r>
              <a:t>• Bedrock adjusts thermostat</a:t>
            </a:r>
            <a:br/>
            <a:r>
              <a:t>• "Raised temp 3°F to save</a:t>
            </a:r>
            <a:br/>
            <a:r>
              <a:t>  during peak pricing"</a:t>
            </a:r>
            <a:br/>
            <a:r>
              <a:t>• Runs every 60 seconds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BAB5CD-0A8C-CB5B-A618-740CB3FF95DE}"/>
              </a:ext>
            </a:extLst>
          </p:cNvPr>
          <p:cNvSpPr/>
          <p:nvPr/>
        </p:nvSpPr>
        <p:spPr>
          <a:xfrm>
            <a:off x="300000" y="3926057"/>
            <a:ext cx="3662400" cy="9174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6" name="TextBox 3">
            <a:extLst>
              <a:ext uri="{FF2B5EF4-FFF2-40B4-BE49-F238E27FC236}">
                <a16:creationId xmlns:a16="http://schemas.microsoft.com/office/drawing/2014/main" id="{2CEEED23-A41A-D27C-8532-AF294D218C0E}"/>
              </a:ext>
            </a:extLst>
          </p:cNvPr>
          <p:cNvSpPr txBox="1"/>
          <p:nvPr/>
        </p:nvSpPr>
        <p:spPr>
          <a:xfrm>
            <a:off x="450000" y="4026057"/>
            <a:ext cx="34662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700" b="1">
                <a:solidFill>
                  <a:srgbClr val="3B8FD4"/>
                </a:solidFill>
              </a:defRPr>
            </a:pPr>
            <a:r>
              <a:rPr lang="en-IN" dirty="0"/>
              <a:t>🧠 Pattern Learning</a:t>
            </a:r>
          </a:p>
          <a:p>
            <a:pPr>
              <a:spcBef>
                <a:spcPts val="400"/>
              </a:spcBef>
              <a:defRPr sz="1200" b="0">
                <a:solidFill>
                  <a:srgbClr val="6B8A9E"/>
                </a:solidFill>
              </a:defRPr>
            </a:pPr>
            <a:r>
              <a:rPr lang="en-IN" dirty="0"/>
              <a:t>Tracks overrides, Bedrock learns preferences, adapts optimization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897ADC5-A257-8386-A85C-68AD866B9CCA}"/>
              </a:ext>
            </a:extLst>
          </p:cNvPr>
          <p:cNvSpPr/>
          <p:nvPr/>
        </p:nvSpPr>
        <p:spPr>
          <a:xfrm>
            <a:off x="4147411" y="3954642"/>
            <a:ext cx="3662400" cy="9174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21F638FB-D687-6226-E8C9-7B356F5A64E1}"/>
              </a:ext>
            </a:extLst>
          </p:cNvPr>
          <p:cNvSpPr txBox="1"/>
          <p:nvPr/>
        </p:nvSpPr>
        <p:spPr>
          <a:xfrm>
            <a:off x="4297411" y="4054642"/>
            <a:ext cx="34662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4DB8C9"/>
                </a:solidFill>
              </a:defRPr>
            </a:pPr>
            <a:r>
              <a:t>🤖 AI Optimize</a:t>
            </a:r>
          </a:p>
          <a:p>
            <a:pPr>
              <a:spcBef>
                <a:spcPts val="400"/>
              </a:spcBef>
              <a:defRPr sz="1200" b="0">
                <a:solidFill>
                  <a:srgbClr val="6B8A9E"/>
                </a:solidFill>
              </a:defRPr>
            </a:pPr>
            <a:r>
              <a:t>Bedrock adjusts thermostat every 60s using weather forecast + user patterns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80247C5-3423-17D5-145A-4F0B5D8BDBD3}"/>
              </a:ext>
            </a:extLst>
          </p:cNvPr>
          <p:cNvSpPr/>
          <p:nvPr/>
        </p:nvSpPr>
        <p:spPr>
          <a:xfrm>
            <a:off x="300000" y="5276057"/>
            <a:ext cx="3662400" cy="9174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TextBox 7">
            <a:extLst>
              <a:ext uri="{FF2B5EF4-FFF2-40B4-BE49-F238E27FC236}">
                <a16:creationId xmlns:a16="http://schemas.microsoft.com/office/drawing/2014/main" id="{FD05D2FC-D80C-6DB2-2A95-27AA09FFDE5D}"/>
              </a:ext>
            </a:extLst>
          </p:cNvPr>
          <p:cNvSpPr txBox="1"/>
          <p:nvPr/>
        </p:nvSpPr>
        <p:spPr>
          <a:xfrm>
            <a:off x="450000" y="5376057"/>
            <a:ext cx="34662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E6A84D"/>
                </a:solidFill>
              </a:defRPr>
            </a:pPr>
            <a:r>
              <a:t>🎛️ Manual Override</a:t>
            </a:r>
          </a:p>
          <a:p>
            <a:pPr>
              <a:spcBef>
                <a:spcPts val="400"/>
              </a:spcBef>
              <a:defRPr sz="1200" b="0">
                <a:solidFill>
                  <a:srgbClr val="6B8A9E"/>
                </a:solidFill>
              </a:defRPr>
            </a:pPr>
            <a:r>
              <a:t>+/− temp, Cool/Heat/Off mode, Apply Override, Resume AI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853D985-66AC-1364-B056-115B8376322C}"/>
              </a:ext>
            </a:extLst>
          </p:cNvPr>
          <p:cNvSpPr/>
          <p:nvPr/>
        </p:nvSpPr>
        <p:spPr>
          <a:xfrm>
            <a:off x="4147411" y="5304642"/>
            <a:ext cx="3662400" cy="9174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0B5562C7-6B96-0001-DC9F-93240945BDA5}"/>
              </a:ext>
            </a:extLst>
          </p:cNvPr>
          <p:cNvSpPr txBox="1"/>
          <p:nvPr/>
        </p:nvSpPr>
        <p:spPr>
          <a:xfrm>
            <a:off x="4297411" y="5404642"/>
            <a:ext cx="34662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E6C84D"/>
                </a:solidFill>
              </a:defRPr>
            </a:pPr>
            <a:r>
              <a:t>💰 Cost Estimation</a:t>
            </a:r>
          </a:p>
          <a:p>
            <a:pPr>
              <a:spcBef>
                <a:spcPts val="400"/>
              </a:spcBef>
              <a:defRPr sz="1200" b="0">
                <a:solidFill>
                  <a:srgbClr val="6B8A9E"/>
                </a:solidFill>
              </a:defRPr>
            </a:pPr>
            <a:r>
              <a:t>Real-time: AC $1.73, Heater $0.80, Aux $0.40 — Monthly: $88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A9017C0-AA9A-FEB7-B488-7748900ED4C6}"/>
              </a:ext>
            </a:extLst>
          </p:cNvPr>
          <p:cNvSpPr/>
          <p:nvPr/>
        </p:nvSpPr>
        <p:spPr>
          <a:xfrm>
            <a:off x="7959811" y="3954642"/>
            <a:ext cx="3662400" cy="9174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6E3E6EFF-840E-E7CD-AB95-FD76D731C658}"/>
              </a:ext>
            </a:extLst>
          </p:cNvPr>
          <p:cNvSpPr txBox="1"/>
          <p:nvPr/>
        </p:nvSpPr>
        <p:spPr>
          <a:xfrm>
            <a:off x="8165486" y="4059375"/>
            <a:ext cx="34662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4DB89C"/>
                </a:solidFill>
              </a:defRPr>
            </a:pPr>
            <a:r>
              <a:rPr dirty="0"/>
              <a:t>🔔 Notifications</a:t>
            </a:r>
          </a:p>
          <a:p>
            <a:pPr>
              <a:spcBef>
                <a:spcPts val="400"/>
              </a:spcBef>
              <a:defRPr sz="1200" b="0">
                <a:solidFill>
                  <a:srgbClr val="6B8A9E"/>
                </a:solidFill>
              </a:defRPr>
            </a:pPr>
            <a:r>
              <a:rPr dirty="0"/>
              <a:t>Collapsible: filter reminder, DR events, AI adjustments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E6B82A7-A40B-4D6C-7B0F-279C102D944E}"/>
              </a:ext>
            </a:extLst>
          </p:cNvPr>
          <p:cNvSpPr/>
          <p:nvPr/>
        </p:nvSpPr>
        <p:spPr>
          <a:xfrm>
            <a:off x="8015486" y="5304642"/>
            <a:ext cx="3662400" cy="9174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26" name="TextBox 13">
            <a:extLst>
              <a:ext uri="{FF2B5EF4-FFF2-40B4-BE49-F238E27FC236}">
                <a16:creationId xmlns:a16="http://schemas.microsoft.com/office/drawing/2014/main" id="{E8736E95-890C-28E3-0C53-A385DBAD442C}"/>
              </a:ext>
            </a:extLst>
          </p:cNvPr>
          <p:cNvSpPr txBox="1"/>
          <p:nvPr/>
        </p:nvSpPr>
        <p:spPr>
          <a:xfrm>
            <a:off x="8165486" y="5404642"/>
            <a:ext cx="3466200" cy="77457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6B8A9E"/>
                </a:solidFill>
              </a:defRPr>
            </a:pPr>
            <a:r>
              <a:t>⏰ Routines</a:t>
            </a:r>
          </a:p>
          <a:p>
            <a:pPr>
              <a:spcBef>
                <a:spcPts val="400"/>
              </a:spcBef>
              <a:defRPr sz="1200" b="0">
                <a:solidFill>
                  <a:srgbClr val="6B8A9E"/>
                </a:solidFill>
              </a:defRPr>
            </a:pPr>
            <a:r>
              <a:t>Mock Alexa routines: Morning Cool, Peak Savings, Night Mode</a:t>
            </a:r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18B9D29E-E755-DE6D-42E0-5A41EC3C4DED}"/>
              </a:ext>
            </a:extLst>
          </p:cNvPr>
          <p:cNvSpPr txBox="1"/>
          <p:nvPr/>
        </p:nvSpPr>
        <p:spPr>
          <a:xfrm>
            <a:off x="5851306" y="6815499"/>
            <a:ext cx="3466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700" b="1">
                <a:solidFill>
                  <a:srgbClr val="4DB8C9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50000"/>
            <a:ext cx="114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FD4"/>
                </a:solidFill>
              </a:defRPr>
            </a:pPr>
            <a:r>
              <a:t>Architecture</a:t>
            </a:r>
          </a:p>
        </p:txBody>
      </p:sp>
      <p:pic>
        <p:nvPicPr>
          <p:cNvPr id="3" name="Picture 2" descr="hld-simple.png"/>
          <p:cNvPicPr>
            <a:picLocks noChangeAspect="1"/>
          </p:cNvPicPr>
          <p:nvPr/>
        </p:nvPicPr>
        <p:blipFill>
          <a:blip r:embed="rId3"/>
          <a:srcRect r="18899" b="19283"/>
          <a:stretch>
            <a:fillRect/>
          </a:stretch>
        </p:blipFill>
        <p:spPr>
          <a:xfrm>
            <a:off x="228600" y="533400"/>
            <a:ext cx="11849496" cy="574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0000"/>
            <a:ext cx="109728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B8FD4"/>
                </a:solidFill>
              </a:defRPr>
            </a:pPr>
            <a:r>
              <a:rPr dirty="0"/>
              <a:t>Pillar 1: Energy Bill Explainability</a:t>
            </a:r>
          </a:p>
        </p:txBody>
      </p:sp>
      <p:pic>
        <p:nvPicPr>
          <p:cNvPr id="3" name="Picture 2" descr="02-bill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700000"/>
            <a:ext cx="10972800" cy="55793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0000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A84D"/>
                </a:solidFill>
              </a:defRPr>
            </a:pPr>
            <a:r>
              <a:t>Pillar 2: HVAC Health Intelligence</a:t>
            </a:r>
          </a:p>
        </p:txBody>
      </p:sp>
      <p:pic>
        <p:nvPicPr>
          <p:cNvPr id="3" name="Picture 2" descr="03-health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61813"/>
            <a:ext cx="11334000" cy="5763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0000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DB89C"/>
                </a:solidFill>
              </a:defRPr>
            </a:pPr>
            <a:r>
              <a:t>Pillar 3: Demand Response Advisor</a:t>
            </a:r>
          </a:p>
        </p:txBody>
      </p:sp>
      <p:pic>
        <p:nvPicPr>
          <p:cNvPr id="3" name="Picture 2" descr="04-dr-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670" y="622052"/>
            <a:ext cx="11040660" cy="5613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0000"/>
            <a:ext cx="109728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DB8C9"/>
                </a:solidFill>
              </a:defRPr>
            </a:pPr>
            <a:r>
              <a:rPr dirty="0"/>
              <a:t>Pillar 4: AI Auto-Optimization</a:t>
            </a:r>
          </a:p>
        </p:txBody>
      </p:sp>
      <p:pic>
        <p:nvPicPr>
          <p:cNvPr id="3" name="Picture 2" descr="05-optimiz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00" y="669520"/>
            <a:ext cx="11075200" cy="56314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80000"/>
            <a:ext cx="10972800" cy="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FD4"/>
                </a:solidFill>
              </a:defRPr>
            </a:pPr>
            <a:r>
              <a:t>How AI Was Used in Your Idea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7941" y="880000"/>
            <a:ext cx="2650000" cy="10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90667" y="910000"/>
            <a:ext cx="2457273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FD4"/>
                </a:solidFill>
              </a:defRPr>
            </a:pPr>
            <a:r>
              <a:t>💬 Chat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State + 50 events + anomalies → grounded response with $ estimates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7941" y="880000"/>
            <a:ext cx="2650000" cy="10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40667" y="910000"/>
            <a:ext cx="2457273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84D"/>
                </a:solidFill>
              </a:defRPr>
            </a:pPr>
            <a:r>
              <a:t>🚨 Alerts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Anomaly detected → Bedrock generates friendly alert with $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7941" y="880000"/>
            <a:ext cx="2650000" cy="10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90667" y="910000"/>
            <a:ext cx="2457273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B89C"/>
                </a:solidFill>
              </a:defRPr>
            </a:pPr>
            <a:r>
              <a:t>🤖 Control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Every 60s: JSON {mode, setpoint, reason} → auto-applied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7941" y="880000"/>
            <a:ext cx="2650000" cy="10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40667" y="910000"/>
            <a:ext cx="2457273" cy="702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DB8C9"/>
                </a:solidFill>
              </a:defRPr>
            </a:pPr>
            <a:r>
              <a:t>🧠 Patterns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Overrides recorded → injected into optimize prompt → AI adapts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465" y="2230000"/>
            <a:ext cx="1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B8C9"/>
                </a:solidFill>
              </a:defRPr>
            </a:pPr>
            <a:r>
              <a:t>🧠 How AI Learns Your Preferences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465" y="2580000"/>
            <a:ext cx="11500000" cy="1300000"/>
          </a:xfrm>
          <a:prstGeom prst="roundRect">
            <a:avLst/>
          </a:prstGeom>
          <a:solidFill>
            <a:srgbClr val="E8F8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81465" y="2680000"/>
            <a:ext cx="2200000" cy="7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465" y="271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B8C9"/>
                </a:solidFill>
              </a:defRPr>
            </a:pPr>
            <a:r>
              <a:t>👤 User Override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465" y="301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72°F at 94°F outdoor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1465" y="2680000"/>
            <a:ext cx="2200000" cy="7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1465" y="271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B8C9"/>
                </a:solidFill>
              </a:defRPr>
            </a:pPr>
            <a:r>
              <a:t>📝 Pattern Stored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1465" y="301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temp, mode, weather,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1465" y="2680000"/>
            <a:ext cx="2200000" cy="7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1465" y="271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B8C9"/>
                </a:solidFill>
              </a:defRPr>
            </a:pPr>
            <a:r>
              <a:t>🤖 Bedrock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465" y="301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preferences injected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1465" y="2680000"/>
            <a:ext cx="2200000" cy="7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81465" y="2710000"/>
            <a:ext cx="2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DB8C9"/>
                </a:solidFill>
              </a:defRPr>
            </a:pPr>
            <a:r>
              <a:t>✅ Smarter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1465" y="3010000"/>
            <a:ext cx="20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"You prefer 72°F when hot"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81465" y="29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FD4"/>
                </a:solidFill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1465" y="29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FD4"/>
                </a:solidFill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1465" y="293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FD4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465" y="3480000"/>
            <a:ext cx="11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</a:defRPr>
            </a:pPr>
            <a:r>
              <a:t>Last 20 overrides tracked. Each records temp, mode, outdoor conditions, time. AI adapts automatically — no training needed.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941" y="4300000"/>
            <a:ext cx="11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A84D"/>
                </a:solidFill>
              </a:defRPr>
            </a:pPr>
            <a:r>
              <a:t>🌤️ Live Weather Integration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941" y="4650000"/>
            <a:ext cx="11500000" cy="1300000"/>
          </a:xfrm>
          <a:prstGeom prst="roundRect">
            <a:avLst/>
          </a:prstGeom>
          <a:solidFill>
            <a:srgbClr val="FFF8E8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97941" y="4750000"/>
            <a:ext cx="33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7941" y="478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DB89C"/>
                </a:solidFill>
              </a:defRPr>
            </a:pPr>
            <a:r>
              <a:t>🌡️ Simulation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7941" y="505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Real outdoor temp drives</a:t>
            </a:r>
            <a:br/>
            <a:r>
              <a:t>HVAC physics — indoor</a:t>
            </a:r>
            <a:br/>
            <a:r>
              <a:t>drifts toward actual conditions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97941" y="4750000"/>
            <a:ext cx="33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941" y="478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3B8FD4"/>
                </a:solidFill>
              </a:defRPr>
            </a:pPr>
            <a:r>
              <a:t>🤖 AI Prompts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941" y="505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Bedrock sees temp, humidity,</a:t>
            </a:r>
            <a:br/>
            <a:r>
              <a:t>wind, feels-like, and 6-hour</a:t>
            </a:r>
            <a:br/>
            <a:r>
              <a:t>forecast in every response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97941" y="4750000"/>
            <a:ext cx="33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97941" y="4780000"/>
            <a:ext cx="31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A84D"/>
                </a:solidFill>
              </a:defRPr>
            </a:pPr>
            <a:r>
              <a:t>📈 Trend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7941" y="5050000"/>
            <a:ext cx="31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8A9E"/>
                </a:solidFill>
              </a:defRPr>
            </a:pPr>
            <a:r>
              <a:t>Rising/falling/stable trend</a:t>
            </a:r>
            <a:br/>
            <a:r>
              <a:t>triggers proactive tips and</a:t>
            </a:r>
            <a:br/>
            <a:r>
              <a:t>pre-emptive optimization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7941" y="5700000"/>
            <a:ext cx="1100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8A9E"/>
                </a:solidFill>
              </a:defRPr>
            </a:pPr>
            <a:r>
              <a:rPr dirty="0"/>
              <a:t>Open</a:t>
            </a:r>
            <a:r>
              <a:rPr lang="en-US" dirty="0"/>
              <a:t> </a:t>
            </a:r>
            <a:r>
              <a:rPr dirty="0"/>
              <a:t>Meteo API:  Updates every 10 min with 6-hour forecast. Feeds into simulation, Bedrock prompts, and AI decisions.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941" y="6300000"/>
            <a:ext cx="11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3044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7643" y="323389"/>
            <a:ext cx="10972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FD4"/>
                </a:solidFill>
              </a:defRPr>
            </a:pPr>
            <a:r>
              <a:rPr dirty="0"/>
              <a:t>Sample Questions &amp; Savings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7642" y="1207999"/>
            <a:ext cx="3700000" cy="2108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6482" y="1257999"/>
            <a:ext cx="34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FD4"/>
                </a:solidFill>
              </a:defRPr>
            </a:pPr>
            <a:r>
              <a:rPr dirty="0"/>
              <a:t>💰 Billing</a:t>
            </a: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r>
              <a:rPr dirty="0"/>
              <a:t>"Why is my energy bill high?"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rPr dirty="0"/>
              <a:t>"How much is my HVAC costing me today?"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rPr dirty="0"/>
              <a:t>"What temperature for best savings?"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rPr dirty="0"/>
              <a:t>"Compare my usage today vs yesterday"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37642" y="1207999"/>
            <a:ext cx="3700000" cy="2108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76482" y="1257999"/>
            <a:ext cx="34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A84D"/>
                </a:solidFill>
              </a:defRPr>
            </a:pPr>
            <a:r>
              <a:t>🔧 Health</a:t>
            </a: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r>
              <a:t>"Is my HVAC system healthy?"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t>"Why does my aux heater keep running?"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t>"Do I need to change my air filter?"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t>"Is my system running efficiently?"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7642" y="1207999"/>
            <a:ext cx="3700000" cy="2108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6482" y="1257999"/>
            <a:ext cx="340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DB89C"/>
                </a:solidFill>
              </a:defRPr>
            </a:pPr>
            <a:r>
              <a:t>⚡ Demand Response</a:t>
            </a:r>
          </a:p>
          <a:p>
            <a:pPr>
              <a:spcBef>
                <a:spcPts val="300"/>
              </a:spcBef>
              <a:defRPr sz="1300" b="0">
                <a:solidFill>
                  <a:srgbClr val="1A3044"/>
                </a:solidFill>
              </a:defRPr>
            </a:pPr>
            <a:r>
              <a:t>"Am I ready for the DR event?"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t>"When is the next DR event?"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t>"Should I pre-cool before DR?"</a:t>
            </a:r>
          </a:p>
          <a:p>
            <a:pPr>
              <a:spcBef>
                <a:spcPts val="300"/>
              </a:spcBef>
              <a:defRPr sz="1300" b="0">
                <a:solidFill>
                  <a:srgbClr val="6B8A9E"/>
                </a:solidFill>
              </a:defRPr>
            </a:pPr>
            <a:r>
              <a:t>"How much did I save during DR?"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200" y="3575115"/>
            <a:ext cx="1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FD4"/>
                </a:solidFill>
              </a:defRPr>
            </a:pPr>
            <a:r>
              <a:t>Savings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643" y="4100001"/>
            <a:ext cx="3700000" cy="1600000"/>
          </a:xfrm>
          <a:prstGeom prst="roundRect">
            <a:avLst/>
          </a:prstGeom>
          <a:solidFill>
            <a:srgbClr val="E0FFE8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7643" y="4150001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DB89C"/>
                </a:solidFill>
              </a:defRPr>
            </a:pPr>
            <a:r>
              <a:t>🤖 AI Optimization: 15%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Smart setpoint adjustments based on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weather, time of day, and user preferences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reduce unnecessary runtime by ~15%.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7643" y="4100001"/>
            <a:ext cx="3700000" cy="1600000"/>
          </a:xfrm>
          <a:prstGeom prst="roundRect">
            <a:avLst/>
          </a:prstGeom>
          <a:solidFill>
            <a:srgbClr val="FFF0E0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7643" y="4150001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6A84D"/>
                </a:solidFill>
              </a:defRPr>
            </a:pPr>
            <a:r>
              <a:t>🔧 Filter Maintenance: 10%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Clean filter improves airflow efficiency,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reducing compressor load and eliminating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unnecessary aux heater activation.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7643" y="4100001"/>
            <a:ext cx="3700000" cy="1600000"/>
          </a:xfrm>
          <a:prstGeom prst="roundRect">
            <a:avLst/>
          </a:prstGeom>
          <a:solidFill>
            <a:srgbClr val="E0F0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7643" y="4150001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FD4"/>
                </a:solidFill>
              </a:defRPr>
            </a:pPr>
            <a:r>
              <a:t>⚡ DR Participation: ~$12/mo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3.5 events/week × 2 hours ×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$0.40/hour savings = ~$12/month</a:t>
            </a:r>
          </a:p>
          <a:p>
            <a:pPr>
              <a:spcBef>
                <a:spcPts val="300"/>
              </a:spcBef>
              <a:defRPr sz="1200" b="0">
                <a:solidFill>
                  <a:srgbClr val="6B8A9E"/>
                </a:solidFill>
              </a:defRPr>
            </a:pPr>
            <a:r>
              <a:t>in avoided peak pricing.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00000"/>
            <a:ext cx="109728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3B8FD4"/>
                </a:solidFill>
              </a:defRPr>
            </a:pPr>
            <a:r>
              <a:t>🚀 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1769" y="1006918"/>
            <a:ext cx="11600000" cy="2455376"/>
          </a:xfrm>
          <a:prstGeom prst="roundRect">
            <a:avLst/>
          </a:prstGeom>
          <a:solidFill>
            <a:srgbClr val="E0F0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4979" y="963299"/>
            <a:ext cx="11200000" cy="928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defRPr sz="2200" b="1">
                <a:solidFill>
                  <a:srgbClr val="3B8FD4"/>
                </a:solidFill>
              </a:defRPr>
            </a:pPr>
            <a:r>
              <a:rPr dirty="0"/>
              <a:t>📱 Priority: Alexa Skill Integration</a:t>
            </a:r>
          </a:p>
          <a:p>
            <a:pPr>
              <a:spcBef>
                <a:spcPts val="200"/>
              </a:spcBef>
              <a:defRPr sz="1400" b="0">
                <a:solidFill>
                  <a:srgbClr val="1A3044"/>
                </a:solidFill>
              </a:defRPr>
            </a:pPr>
            <a:r>
              <a:rPr dirty="0"/>
              <a:t>Deploy the Energy Advisor as a native Alexa Skill — same AI, real device data, voice-first experience</a:t>
            </a:r>
          </a:p>
          <a:p>
            <a:pPr>
              <a:spcBef>
                <a:spcPts val="200"/>
              </a:spcBef>
              <a:defRPr sz="400" b="0">
                <a:solidFill>
                  <a:srgbClr val="6B8A9E"/>
                </a:solidFill>
              </a:defRPr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32519" y="1866420"/>
            <a:ext cx="52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B89C"/>
                </a:solidFill>
              </a:defRPr>
            </a:pPr>
            <a:r>
              <a:rPr dirty="0"/>
              <a:t>What stays the same: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1769" y="2313836"/>
            <a:ext cx="520000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</a:defRPr>
            </a:pPr>
            <a:r>
              <a:rPr sz="1400" dirty="0"/>
              <a:t>• Bedrock prompts &amp; AI logic</a:t>
            </a:r>
          </a:p>
          <a:p>
            <a:pPr>
              <a:spcBef>
                <a:spcPts val="200"/>
              </a:spcBef>
              <a:defRPr sz="1200" b="0">
                <a:solidFill>
                  <a:srgbClr val="6B8A9E"/>
                </a:solidFill>
              </a:defRPr>
            </a:pPr>
            <a:r>
              <a:rPr sz="1400" dirty="0"/>
              <a:t>• Anomaly detection &amp; cost estimation</a:t>
            </a:r>
          </a:p>
          <a:p>
            <a:pPr>
              <a:spcBef>
                <a:spcPts val="200"/>
              </a:spcBef>
              <a:defRPr sz="1200" b="0">
                <a:solidFill>
                  <a:srgbClr val="6B8A9E"/>
                </a:solidFill>
              </a:defRPr>
            </a:pPr>
            <a:r>
              <a:rPr sz="1400" dirty="0"/>
              <a:t>• Pattern learning &amp; weather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18081" y="1816100"/>
            <a:ext cx="5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84D"/>
                </a:solidFill>
              </a:defRPr>
            </a:pPr>
            <a:r>
              <a:rPr dirty="0"/>
              <a:t>What changes: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4979" y="2240216"/>
            <a:ext cx="550000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8A9E"/>
                </a:solidFill>
              </a:defRPr>
            </a:pPr>
            <a:r>
              <a:rPr sz="1400" dirty="0"/>
              <a:t>• REST API → Lambda handling Alexa directives</a:t>
            </a:r>
          </a:p>
          <a:p>
            <a:pPr>
              <a:spcBef>
                <a:spcPts val="200"/>
              </a:spcBef>
              <a:defRPr sz="1200" b="0">
                <a:solidFill>
                  <a:srgbClr val="6B8A9E"/>
                </a:solidFill>
              </a:defRPr>
            </a:pPr>
            <a:r>
              <a:rPr sz="1400" dirty="0"/>
              <a:t>• Simulator → real SNS/SHEP events (1 new subscriber)</a:t>
            </a:r>
          </a:p>
          <a:p>
            <a:pPr>
              <a:spcBef>
                <a:spcPts val="200"/>
              </a:spcBef>
              <a:defRPr sz="1200" b="0">
                <a:solidFill>
                  <a:srgbClr val="6B8A9E"/>
                </a:solidFill>
              </a:defRPr>
            </a:pPr>
            <a:r>
              <a:t>• Web UI → Echo voice + Echo Show APL dashboard</a:t>
            </a:r>
          </a:p>
          <a:p>
            <a:pPr>
              <a:spcBef>
                <a:spcPts val="200"/>
              </a:spcBef>
              <a:defRPr sz="1200" b="0">
                <a:solidFill>
                  <a:srgbClr val="6B8A9E"/>
                </a:solidFill>
              </a:defRPr>
            </a:pPr>
            <a:r>
              <a:t>• "Alexa, show my energy dashboard" (APL cards)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000" y="3613837"/>
            <a:ext cx="116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8A9E"/>
                </a:solidFill>
              </a:defRPr>
            </a:pPr>
            <a:r>
              <a:rPr dirty="0"/>
              <a:t>Other Improvements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0000" y="4115380"/>
            <a:ext cx="37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0000" y="416538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FD4"/>
                </a:solidFill>
              </a:defRPr>
            </a:pPr>
            <a:r>
              <a:t>🔮 Predictive Forecasting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Tomorrow's cost from weather forecast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00000" y="4115380"/>
            <a:ext cx="37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0000" y="416538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84D"/>
                </a:solidFill>
              </a:defRPr>
            </a:pPr>
            <a:r>
              <a:t>🛒 Smart Filter Reorder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Auto-order via Dash with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00" y="4115380"/>
            <a:ext cx="37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00000" y="416538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B89C"/>
                </a:solidFill>
              </a:defRPr>
            </a:pPr>
            <a:r>
              <a:t>🏠 Multi-Device &amp; 3P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Nest, Ecobee, whole-home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0000" y="5215380"/>
            <a:ext cx="37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0000" y="526538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7070"/>
                </a:solidFill>
              </a:defRPr>
            </a:pPr>
            <a:r>
              <a:t>🧠 Predictive Maintenance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ML predicts failures 2-4 weeks early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00000" y="5215380"/>
            <a:ext cx="37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0000" y="526538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C84D"/>
                </a:solidFill>
              </a:defRPr>
            </a:pPr>
            <a:r>
              <a:t>⚡ Utility Rate Optimization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Auto-shift load to cheapest TOU hours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000" y="5215380"/>
            <a:ext cx="3700000" cy="900000"/>
          </a:xfrm>
          <a:prstGeom prst="roundRect">
            <a:avLst/>
          </a:prstGeom>
          <a:solidFill>
            <a:srgbClr val="F0F7FF"/>
          </a:solidFill>
          <a:ln w="6350">
            <a:solidFill>
              <a:srgbClr val="DC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00000" y="5265380"/>
            <a:ext cx="3500000" cy="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B8C9"/>
                </a:solidFill>
              </a:defRPr>
            </a:pPr>
            <a:r>
              <a:t>📺 Echo Show Dashboard</a:t>
            </a:r>
          </a:p>
          <a:p>
            <a:pPr>
              <a:spcBef>
                <a:spcPts val="200"/>
              </a:spcBef>
              <a:defRPr sz="1100" b="0">
                <a:solidFill>
                  <a:srgbClr val="6B8A9E"/>
                </a:solidFill>
              </a:defRPr>
            </a:pPr>
            <a:r>
              <a:t>APL cards: temp ring, cost, DR 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00000"/>
            <a:ext cx="103632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0" b="1">
                <a:solidFill>
                  <a:srgbClr val="3B8FD4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000"/>
            <a:ext cx="1036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3044"/>
                </a:solidFill>
              </a:defRPr>
            </a:pPr>
            <a:r>
              <a:rPr lang="en-US" dirty="0"/>
              <a:t>Open to questions &amp; Feedback </a:t>
            </a:r>
            <a:r>
              <a:rPr lang="en-US" sz="1600" dirty="0"/>
              <a:t>😇😊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5413</TotalTime>
  <Words>1197</Words>
  <Application>Microsoft Macintosh PowerPoint</Application>
  <PresentationFormat>Widescreen</PresentationFormat>
  <Paragraphs>177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Amazon.com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1</dc:title>
  <dc:creator>Garland, James</dc:creator>
  <cp:lastModifiedBy>GARG, ABHISHEK</cp:lastModifiedBy>
  <cp:revision>166</cp:revision>
  <dcterms:created xsi:type="dcterms:W3CDTF">2012-11-28T16:53:20Z</dcterms:created>
  <dcterms:modified xsi:type="dcterms:W3CDTF">2026-05-05T04:46:58Z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2026-05-03T09:11:37Z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e64141aa-dd44-48cb-a58f-2b17328054b4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